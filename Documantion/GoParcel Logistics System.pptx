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 Light"/>
      <p:regular r:id="rId19"/>
      <p:bold r:id="rId20"/>
      <p:italic r:id="rId21"/>
      <p:boldItalic r:id="rId22"/>
    </p:embeddedFont>
    <p:embeddedFont>
      <p:font typeface="Urbanist SemiBold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Light-bold.fntdata"/><Relationship Id="rId22" Type="http://schemas.openxmlformats.org/officeDocument/2006/relationships/font" Target="fonts/UrbanistLight-boldItalic.fntdata"/><Relationship Id="rId21" Type="http://schemas.openxmlformats.org/officeDocument/2006/relationships/font" Target="fonts/UrbanistLight-italic.fntdata"/><Relationship Id="rId24" Type="http://schemas.openxmlformats.org/officeDocument/2006/relationships/font" Target="fonts/UrbanistSemiBold-bold.fntdata"/><Relationship Id="rId23" Type="http://schemas.openxmlformats.org/officeDocument/2006/relationships/font" Target="fonts/Urbanis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SemiBold-boldItalic.fntdata"/><Relationship Id="rId25" Type="http://schemas.openxmlformats.org/officeDocument/2006/relationships/font" Target="fonts/UrbanistSemiBold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Ligh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11" Type="http://schemas.openxmlformats.org/officeDocument/2006/relationships/image" Target="../media/image28.png"/><Relationship Id="rId10" Type="http://schemas.openxmlformats.org/officeDocument/2006/relationships/image" Target="../media/image15.png"/><Relationship Id="rId12" Type="http://schemas.openxmlformats.org/officeDocument/2006/relationships/image" Target="../media/image12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8.png"/><Relationship Id="rId11" Type="http://schemas.openxmlformats.org/officeDocument/2006/relationships/image" Target="../media/image47.png"/><Relationship Id="rId10" Type="http://schemas.openxmlformats.org/officeDocument/2006/relationships/image" Target="../media/image29.png"/><Relationship Id="rId12" Type="http://schemas.openxmlformats.org/officeDocument/2006/relationships/image" Target="../media/image30.png"/><Relationship Id="rId9" Type="http://schemas.openxmlformats.org/officeDocument/2006/relationships/image" Target="../media/image24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20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36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27.png"/><Relationship Id="rId6" Type="http://schemas.openxmlformats.org/officeDocument/2006/relationships/image" Target="../media/image35.png"/><Relationship Id="rId7" Type="http://schemas.openxmlformats.org/officeDocument/2006/relationships/image" Target="../media/image5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49.png"/><Relationship Id="rId13" Type="http://schemas.openxmlformats.org/officeDocument/2006/relationships/image" Target="../media/image39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9" Type="http://schemas.openxmlformats.org/officeDocument/2006/relationships/image" Target="../media/image50.png"/><Relationship Id="rId5" Type="http://schemas.openxmlformats.org/officeDocument/2006/relationships/image" Target="../media/image37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Relationship Id="rId8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59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6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61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55.png"/><Relationship Id="rId9" Type="http://schemas.openxmlformats.org/officeDocument/2006/relationships/image" Target="../media/image7.png"/><Relationship Id="rId5" Type="http://schemas.openxmlformats.org/officeDocument/2006/relationships/image" Target="../media/image66.png"/><Relationship Id="rId6" Type="http://schemas.openxmlformats.org/officeDocument/2006/relationships/image" Target="../media/image58.png"/><Relationship Id="rId7" Type="http://schemas.openxmlformats.org/officeDocument/2006/relationships/image" Target="../media/image19.png"/><Relationship Id="rId8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Relationship Id="rId5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1732061"/>
            <a:ext cx="4191000" cy="4554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77500" y="-2286000"/>
            <a:ext cx="22098000" cy="116056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1732061"/>
            <a:ext cx="6600825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GoParcel Logistics Management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261544"/>
            <a:ext cx="6096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Advanced Courier Management &amp; Tracking with Glassmorphism UI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71500" y="4261544"/>
            <a:ext cx="38100" cy="8533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9025" y="1741586"/>
            <a:ext cx="4171950" cy="4535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58245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238250" y="5743575"/>
            <a:ext cx="11906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Presented By</a:t>
            </a: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Mihir Bhayani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71612"/>
            <a:ext cx="523875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147161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Digitizing Logistics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1985962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GoParcel is a comprehensive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Full-Stack Web Application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designed to modernize courier service operations. It replaces archaic, paper-based workflows with a centralized digital ecosystem.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57663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Value Proposition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0125" y="257368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970996" y="3621434"/>
            <a:ext cx="20602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Unified Platform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810500" y="4231034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Booking • Tracking • Invoicing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00850" y="4821584"/>
            <a:ext cx="4400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Streamlining the entire shipment lifecycle from pickup to delivery.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7250" y="40528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Centralized Admin Portal: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single hub for booking, tracking, and management.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48053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Process Automation: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Eliminates manual calculations for pricing and tax.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57250" y="55578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Modern Experience: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Built with a "Glassmorphism" UI for high-end usability.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105275" y="538162"/>
            <a:ext cx="41805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Executive Summary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528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053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5578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4650"/>
            <a:ext cx="34924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914650"/>
            <a:ext cx="3492549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914650"/>
            <a:ext cx="34924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0477500" y="-2286000"/>
            <a:ext cx="220980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2099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66775" y="3971925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Manual Data Entry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458152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Reliance on physical receipts and manual logs leads to significant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human error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slower processing times.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32099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4644925" y="39719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Opaque Pricing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644925" y="45815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Complex calculations involving weight, distance, and tax often result in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billing discrepancies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revenue leakage.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32099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8423225" y="3971925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Zero Visibility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423225" y="4581525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Customers and admins lack real-time insights into parcel location, causing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customer dissatisfaction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high support volume.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33813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4950" y="33813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66100" y="33813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3752850" y="1981200"/>
            <a:ext cx="492061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Operational Challenges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14575"/>
            <a:ext cx="52387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77500" y="-2286000"/>
            <a:ext cx="220980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324100"/>
            <a:ext cx="5219700" cy="39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857250" y="29479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Smart Booking Engine: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Instant, algorithm-based cost calculation ensures 100% pricing accuracy.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57250" y="38433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Live Visualization: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graphical dashboard provides real-time tracking of business KPIs (Total Shipments, Delivered, In-Transit).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57250" y="50434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Instant Documentation: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Automated generation of professional, tax-compliant invoices.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2581275" y="1381125"/>
            <a:ext cx="73809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Solution: Intelligent Automation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479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433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434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9539"/>
            <a:ext cx="5334000" cy="1462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79539"/>
            <a:ext cx="5334000" cy="1462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23519"/>
            <a:ext cx="5334000" cy="1462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823519"/>
            <a:ext cx="5334000" cy="1462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0477500" y="-2286000"/>
            <a:ext cx="22098000" cy="14745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425279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3425279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5269259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5269259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359672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1628775" y="3274814"/>
            <a:ext cx="40805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Automation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628775" y="3751064"/>
            <a:ext cx="3886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Eliminate manual pricing errors via algorithmic calculation.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38937" y="3596729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343775" y="3274814"/>
            <a:ext cx="38004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Visualization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343775" y="3751064"/>
            <a:ext cx="36195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Monitor delivery statistics through a visual dashboard.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8225" y="544070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1628775" y="5118794"/>
            <a:ext cx="37304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Transparency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628775" y="5595044"/>
            <a:ext cx="3552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Provide a visual timeline for tracking shipment status.</a:t>
            </a:r>
            <a:endParaRPr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81800" y="5440709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7343775" y="5118794"/>
            <a:ext cx="317039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Documentation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343775" y="5595044"/>
            <a:ext cx="3019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Generate compliant A4 invoices dynamically.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095750" y="2046089"/>
            <a:ext cx="42005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Objectives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7500"/>
            <a:ext cx="52387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57500"/>
            <a:ext cx="52387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77500" y="-2286000"/>
            <a:ext cx="22098000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866775" y="3152775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Backend &amp; Database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677025" y="3152775"/>
            <a:ext cx="48806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Frontend &amp; Interaction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152525" y="3724275"/>
            <a:ext cx="4362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Python (Flask):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Chosen for its lightweight nature and rapid development capabilities. Handles routing and business logic.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152525" y="4781550"/>
            <a:ext cx="4362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SQLite3: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serverless, self-contained database engine ideal for portable and robust data management.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962775" y="3724275"/>
            <a:ext cx="4362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HTML5 &amp; CSS3: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Utilizes advanced CSS properties (backdrop-filter) to achieve the Glassmorphism aesthetic.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962775" y="4781550"/>
            <a:ext cx="4362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JavaScript (ES6) &amp; AJAX: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Enables asynchronous data transport (JSON) for a smooth, single-page application feel.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3695700" y="1924050"/>
            <a:ext cx="504063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Technology Architecture</a:t>
            </a:r>
            <a:endParaRPr/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724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7815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724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781550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27064"/>
            <a:ext cx="5238750" cy="4059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41564"/>
            <a:ext cx="5238750" cy="1758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0477500" y="-2286000"/>
            <a:ext cx="22098000" cy="72211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71500" y="2227064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Algorithmic Pricing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2741414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system removes guesswork by automatically calculating shipping costs based on dynamic inputs. This ensures consistent pricing for all customers.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571500" y="5890319"/>
            <a:ext cx="5238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*Includes Custom ID Generation (e.g., MB_17193...) for internal tracking.</a:t>
            </a:r>
            <a:endParaRPr/>
          </a:p>
        </p:txBody>
      </p:sp>
      <p:pic>
        <p:nvPicPr>
          <p:cNvPr descr="image.png" id="207" name="Google Shape;20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2236589"/>
            <a:ext cx="5219700" cy="404038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895350" y="4236839"/>
            <a:ext cx="48506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Cost Formula: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95350" y="4684514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= [Base Rate + (Weight × 20) + (Distance × 10)] + 18% GST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2838450" y="1293614"/>
            <a:ext cx="684085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A: Smart Booking Engine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34754"/>
            <a:ext cx="11049000" cy="32517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77500" y="-2286000"/>
            <a:ext cx="22098000" cy="44395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2286000" y="1948904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Stakeholders can view the real-time progress of any shipment via a visual timeline. The status updates dynamically as the package moves through the logistics network.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1304032" y="4234904"/>
            <a:ext cx="9583935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0" name="Google Shape;22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8407" y="399677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1256407" y="4663529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Booked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304032" y="4977854"/>
            <a:ext cx="1905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Order Placed</a:t>
            </a:r>
            <a:endParaRPr/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7953" y="399677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3815953" y="4663529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 Transit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3863578" y="4977854"/>
            <a:ext cx="1905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On the Way</a:t>
            </a:r>
            <a:endParaRPr/>
          </a:p>
        </p:txBody>
      </p:sp>
      <p:pic>
        <p:nvPicPr>
          <p:cNvPr descr="image.png" id="226" name="Google Shape;22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37499" y="399677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6375499" y="4663529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Out for Delivery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423124" y="4977854"/>
            <a:ext cx="1905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Arriving Today</a:t>
            </a:r>
            <a:endParaRPr/>
          </a:p>
        </p:txBody>
      </p:sp>
      <p:pic>
        <p:nvPicPr>
          <p:cNvPr descr="image.png" id="229" name="Google Shape;22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97045" y="399677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8935045" y="4663529"/>
            <a:ext cx="2000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Delivered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8982670" y="4977854"/>
            <a:ext cx="19050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Pending</a:t>
            </a:r>
            <a:endParaRPr/>
          </a:p>
        </p:txBody>
      </p:sp>
      <p:pic>
        <p:nvPicPr>
          <p:cNvPr descr="image.png" id="232" name="Google Shape;23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89857" y="415870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49403" y="415870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280374" y="4158704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868495" y="4158704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2962275" y="1015454"/>
            <a:ext cx="65808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B: Live Tracking System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77500" y="-2286000"/>
            <a:ext cx="2209800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533525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6381750" y="185737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Dynamic Bill Generation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381750" y="23717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system auto-generates a detailed invoice immediately after booking. This reduces administrative overhead and speeds up the billing cycle.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381750" y="365760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Capabilities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667500" y="41338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Detailed Breakdown: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clearly displays Sender/Receiver info, Weight, Distance, and Tax.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667500" y="488632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Print-Ready CSS: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Uses media queries to format the invoice specifically for A4 printing, hiding UI elements like sidebars and buttons.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2981325" y="590550"/>
            <a:ext cx="654081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Module C: Automated Invoicing</a:t>
            </a:r>
            <a:endParaRPr/>
          </a:p>
        </p:txBody>
      </p:sp>
      <p:pic>
        <p:nvPicPr>
          <p:cNvPr descr="image.png" id="251" name="Google Shape;25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13385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8863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762000" y="842962"/>
            <a:ext cx="480060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UI/UX Design Philosophy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762000" y="2405062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Glassmorphism Theme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762000" y="3014662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utilized transparency, background blur filters (backdrop-filter), and sophisticated gradients to create a futuristic, immersive interface.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762000" y="4300537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Micro-Interactions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762000" y="4910137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system features animated toast notifications for success/error messages and floating background shapes to add visual depth and feedback.</a:t>
            </a:r>
            <a:endParaRPr/>
          </a:p>
        </p:txBody>
      </p:sp>
      <p:pic>
        <p:nvPicPr>
          <p:cNvPr descr="image.png" id="263" name="Google Shape;26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19450"/>
            <a:ext cx="349240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3219450"/>
            <a:ext cx="3492549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3219450"/>
            <a:ext cx="349240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0477500" y="-2286000"/>
            <a:ext cx="2209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5147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866775" y="4276725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Mobile App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66775" y="4886325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Developing a React Native app for delivery drivers to update shipment status on-the-go.</a:t>
            </a:r>
            <a:endParaRPr/>
          </a:p>
        </p:txBody>
      </p:sp>
      <p:pic>
        <p:nvPicPr>
          <p:cNvPr descr="image.png" id="276" name="Google Shape;27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35147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4644925" y="427672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Payment Gateway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4644925" y="48863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Integration with Stripe or Razorpay to allow seamless online payments during booking.</a:t>
            </a:r>
            <a:endParaRPr/>
          </a:p>
        </p:txBody>
      </p:sp>
      <p:pic>
        <p:nvPicPr>
          <p:cNvPr descr="image.png" id="279" name="Google Shape;27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35147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8423225" y="4276725"/>
            <a:ext cx="30469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5B4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SMS Alerts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8423225" y="4886325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Automated SMS and Email notifications to keep customers informed at every step.</a:t>
            </a:r>
            <a:endParaRPr/>
          </a:p>
        </p:txBody>
      </p:sp>
      <p:pic>
        <p:nvPicPr>
          <p:cNvPr descr="image.png" id="282" name="Google Shape;282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" y="36861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02088" y="36861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08962" y="36861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4443412" y="2286000"/>
            <a:ext cx="347043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477500" y="-2286000"/>
            <a:ext cx="2209800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1595437" y="3295650"/>
            <a:ext cx="9001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1809750" y="4686300"/>
            <a:ext cx="8572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GoParcel project successfully bridges the gap between </a:t>
            </a: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robust backend logic</a:t>
            </a: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high-end aesthetic design</a:t>
            </a: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It transforms logistics from a manual burden into a streamlined, automated, and visual experience.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477500" y="-2286000"/>
            <a:ext cx="2209800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4285775" y="4143375"/>
            <a:ext cx="423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</a:t>
            </a:r>
            <a:r>
              <a:rPr b="1" lang="en-US" sz="60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you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4371975" y="5095875"/>
            <a:ext cx="34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Questions &amp; Answers</a:t>
            </a:r>
            <a:endParaRPr/>
          </a:p>
        </p:txBody>
      </p:sp>
      <p:pic>
        <p:nvPicPr>
          <p:cNvPr descr="image.png" id="302" name="Google Shape;30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3962" y="58245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5405437" y="5743575"/>
            <a:ext cx="1752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Mihir Bhayani</a:t>
            </a:r>
            <a:r>
              <a:rPr b="0" i="0" lang="en-US" sz="12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admin.17193@gmail.com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